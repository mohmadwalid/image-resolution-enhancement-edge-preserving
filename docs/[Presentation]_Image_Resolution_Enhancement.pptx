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×2 Scale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Bilinear</c:v>
                </c:pt>
                <c:pt idx="1">
                  <c:v>Bicubic</c:v>
                </c:pt>
                <c:pt idx="2">
                  <c:v>Lanczos</c:v>
                </c:pt>
                <c:pt idx="3">
                  <c:v>OLA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29.16</c:v>
                </c:pt>
                <c:pt idx="1">
                  <c:v>32.57</c:v>
                </c:pt>
                <c:pt idx="2">
                  <c:v>33.450000000000003</c:v>
                </c:pt>
                <c:pt idx="3">
                  <c:v>36.21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AD-4E36-9BBE-BCD9BBA443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×4 Scale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Bilinear</c:v>
                </c:pt>
                <c:pt idx="1">
                  <c:v>Bicubic</c:v>
                </c:pt>
                <c:pt idx="2">
                  <c:v>Lanczos</c:v>
                </c:pt>
                <c:pt idx="3">
                  <c:v>OLA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25.07</c:v>
                </c:pt>
                <c:pt idx="1">
                  <c:v>27.77</c:v>
                </c:pt>
                <c:pt idx="2">
                  <c:v>28.81</c:v>
                </c:pt>
                <c:pt idx="3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AD-4E36-9BBE-BCD9BBA443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70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Image Resolution Enhancement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</a:rPr>
              <a:t>Using Optimized Edge-Preserving Interpolation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Members: 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Aliaa Maamoun Ibrahim, Sama Ayman Bakry, Ahmed Mohamed Ahmed,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Mohamed Hamdy Gaber, Youssef Abd El Mohsen Eissa, Mohamed Walid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Supervisor: Dr. Ahmed Gomaa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May 10,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Current 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Bilinear/Bicubic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Blur edges and textures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Lanczos Interpolation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Ringing artifacts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Learning-based Methods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Scale-specific, computationally expensive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Our Solution: OLA e-spline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✓ Edge-preserving adaptive filtering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✓ Cuckoo Search optimization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✓ Cubic B-spline interpolation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✓ Post-processing edge expansion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✓ Scale-agnostic framework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OLA e-spline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Local Adaptive Filtering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Variance-based blurring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Unsharp Masking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High-pass frequency extraction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28600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Cuckoo Search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Optimal gain factor 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297180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B-Spline Upsampling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383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Smooth interpolation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365760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97280" y="3840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Edge Expansion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069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Canny-based sharpening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1097280"/>
            <a:ext cx="3657600" cy="32918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Key Innovation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16459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Adaptive processing based on local variance ensures smooth regions remain smooth while edges stay sharp.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Cuckoo Search optimizes the sharpening gain k per image, maximizing Laplacian variance as a sharpness proxy.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 1: Local Adaptive Filtering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1. Calculate Variance σ²</a:t>
            </a:r>
            <a:endParaRPr lang="en-US" sz="1400" dirty="0"/>
          </a:p>
          <a:p>
            <a:pPr marL="0" lvl="1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For each 3×3-pixel neighborhood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2. Assign Center Weight (Cp)</a:t>
            </a:r>
            <a:endParaRPr lang="en-US" sz="14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Low variance (smooth) → Cp = 2</a:t>
            </a:r>
            <a:endParaRPr lang="en-US" sz="14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High variance (edge) → Cp = 32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3. Apply Gaussian Kernel</a:t>
            </a:r>
            <a:endParaRPr lang="en-US" sz="14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[1, 2, 1; </a:t>
            </a:r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2, Cp, 2;</a:t>
            </a:r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1, 2, 1]    / (Cp+12)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Why Adaptive?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Smooth areas → High Cp → Preserved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Edges → Low Cp → More blurring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✓ Blur will be subtracted later to extract edges!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926080"/>
            <a:ext cx="3840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Example: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Smooth sky (σ² = 8) → Cp = 2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 → 72.7% center weight (barely blurred)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Sharp edge (σ² = 180) → Cp = 32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 → 14.3% center weight (heavily blurred)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 2: Unsharp Masking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Extract High-Frequency Details (Edges)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HPF = Original - Blurred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Sharpened = Original + k × HPF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743200"/>
            <a:ext cx="25603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Original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[50, 100, 250]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Has sharp edge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5603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Blurred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[50, 85, 200]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Edge softened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=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2560320" cy="1828800"/>
          </a:xfrm>
          <a:prstGeom prst="rect">
            <a:avLst/>
          </a:prstGeom>
          <a:solidFill>
            <a:srgbClr val="CADCFC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HPF (Edges!)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15, 50]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59669"/>
                </a:solidFill>
              </a:rPr>
              <a:t>Pure edge info!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 3: Cuckoo Search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The Problem: What gain k?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k too small (0.5) → Still blurry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k too large (3.0) → Ringing artifacts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097280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Solution: Optimize 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Maximize Laplacian variance (sharpness)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Cuckoo Search Algorithm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1. Initialize 10 random k values (nests)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2. Evaluate fitness: Laplacian variance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3. Lévy flight: Small steps + occasional big jumps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4. Replace worst 25% with new random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5. Repeat for 20 generations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466344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Result: Optimal k ≈ 1.73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 4: Cubic B-Spline Interpolation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16000"/>
            <a:ext cx="4114800" cy="1651000"/>
          </a:xfrm>
          <a:prstGeom prst="rect">
            <a:avLst/>
          </a:prstGeom>
          <a:solidFill>
            <a:srgbClr val="F0F4FF"/>
          </a:solidFill>
          <a:ln>
            <a:solidFill>
              <a:srgbClr val="CBD5E1"/>
            </a:solidFill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17600"/>
            <a:ext cx="374904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is B-Spline?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73200"/>
            <a:ext cx="3749040" cy="1041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Smooth curve through control points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C² continuity (2nd derivative continuous)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Minimizes curvature — no oscillations</a:t>
            </a:r>
          </a:p>
        </p:txBody>
      </p:sp>
      <p:sp>
        <p:nvSpPr>
          <p:cNvPr id="7" name="Shape 5"/>
          <p:cNvSpPr/>
          <p:nvPr/>
        </p:nvSpPr>
        <p:spPr>
          <a:xfrm>
            <a:off x="4846320" y="1016000"/>
            <a:ext cx="3840480" cy="165100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117600"/>
            <a:ext cx="347472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Why Better?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73200"/>
            <a:ext cx="3474720" cy="1041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Smoother than Bicubic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Less ringing than Lanczos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Best balance: quality + speed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31782"/>
              </p:ext>
            </p:extLst>
          </p:nvPr>
        </p:nvGraphicFramePr>
        <p:xfrm>
          <a:off x="457200" y="2870200"/>
          <a:ext cx="8229600" cy="1524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Continuity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Smoothness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Artifacts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Bilinear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C⁰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Not smooth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Blocky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Bicubic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C¹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Smooth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Some ringing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B-Spline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C²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Very smooth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Minimal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69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Implementation: scipy.ndimage.zoom(image, scale, order=3)</a:t>
            </a:r>
          </a:p>
        </p:txBody>
      </p:sp>
    </p:spTree>
    <p:extLst>
      <p:ext uri="{BB962C8B-B14F-4D97-AF65-F5344CB8AC3E}">
        <p14:creationId xmlns:p14="http://schemas.microsoft.com/office/powerpoint/2010/main" val="217412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 5: Edge Expansion &amp; Fusion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🎯 Goal: Sharpen edges after B-spline upsampling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840480" cy="5029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Canny Edge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Find single-pixel edges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840480" cy="5029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41148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Classify Direction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Horizontal vs Vertical (SDh, SDv)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840480" cy="5029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41148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3649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Edge Expansion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Average neighbors to sharpen transition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3840480" cy="5029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0050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Additive Fusion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HR_final = B-spline + Edge_corrections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011680"/>
            <a:ext cx="3840480" cy="237744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Visual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25603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Before (B-spline):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▓ ▓ ░ ░ □  (smooth gradient)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After (Edge Expansion):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■ ▓ ░ □ □  (sharper edge!)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4114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</a:rPr>
              <a:t>✓ Edges sharpened without affecting smooth areas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Experimental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Dataset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17 test images from Set5, Set14, and standard benchmarks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Scale factors: ×2 and ×4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Images span smooth, medium, and high-frequency content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1371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Evaluation 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PSNR: Pixel-level fidelity (higher = better)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SSIM: Structural similarity (0-1, higher = better)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FSIM: Feature similarity (0-1, higher = better)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Baseline Methods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Bilinear: Weighted 2×2 average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Bicubic: Weighted 4×4 cubic convolution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Lanczos: Sinc-based 8×8 kernel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Quantitative Results: PSNR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🏆 OLA e-spline achieves highest PSNR: +2.76 dB over Lanczos (×2), +2.82 dB (×4)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Complete Results Summary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599" cy="2286000"/>
        </p:xfrm>
        <a:graphic>
          <a:graphicData uri="http://schemas.openxmlformats.org/drawingml/2006/table">
            <a:tbl>
              <a:tblPr/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PSNR ×2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SSIM ×2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FSIM ×2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PSNR ×4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SSIM ×4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FSIM ×4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Bilinear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29.16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0.889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0.827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25.07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0.758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Bicubic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32.57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0.904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0.854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27.77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0.764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0.764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Lanczos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33.45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0.925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0.879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28.81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0.803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0.802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</a:rPr>
                        <a:t>OLA e-spline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36.21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0.951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31.63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0.872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0.868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Key Findings: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Consistent superiority across all metrics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FSIM advantage (0.923 vs 0.879) indicates strong edge preservation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✓ Performance scales well: degradation at ×4 comparable to Lanczos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82880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/>
              <a:t>OLA e-spline achieves superior performance: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400" dirty="0"/>
              <a:t>✓ +7.05 dB over Bilinear, +3.64 dB over Bicubic, +2.76 dB over Lanczos (×2)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/>
              <a:t>✓ Highest SSIM (0.951) and FSIM (0.923) scores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/>
              <a:t>✓ Scale-agnostic, no training data required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/>
              <a:t>✓ Practical for real-time applications with fixed-k variant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Suitable for medical imaging, satellite analysis, and consumer electronics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E81AD7B-D9B2-4698-BDDA-B650A83F185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8e01f5b-879f-4bce-b48a-ecb4c553531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905</Words>
  <Application>Microsoft Office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Resolution Enhancement Using OLA e-spline</dc:title>
  <dc:subject>PptxGenJS Presentation</dc:subject>
  <dc:creator>Team 6 - Computer Vision Project</dc:creator>
  <cp:lastModifiedBy>mohmad walid</cp:lastModifiedBy>
  <cp:revision>6</cp:revision>
  <dcterms:created xsi:type="dcterms:W3CDTF">2026-05-10T10:57:04Z</dcterms:created>
  <dcterms:modified xsi:type="dcterms:W3CDTF">2026-05-10T11:11:55Z</dcterms:modified>
</cp:coreProperties>
</file>